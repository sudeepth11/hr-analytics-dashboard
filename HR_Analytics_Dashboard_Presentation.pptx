
<file path=[Content_Types].xml><?xml version="1.0" encoding="utf-8"?>
<Types xmlns="http://schemas.openxmlformats.org/package/2006/content-types"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eepth Sasikumar" userId="ac08cd68f9c3603f" providerId="LiveId" clId="{8595FD1B-5595-4DB3-BA0A-8BFAF68828F0}"/>
    <pc:docChg chg="undo custSel addSld delSld modSld">
      <pc:chgData name="Sudeepth Sasikumar" userId="ac08cd68f9c3603f" providerId="LiveId" clId="{8595FD1B-5595-4DB3-BA0A-8BFAF68828F0}" dt="2026-10-06T09:39:06.338" v="76" actId="1076"/>
      <pc:docMkLst>
        <pc:docMk/>
      </pc:docMkLst>
      <pc:sldChg chg="addSp delSp modSp mod">
        <pc:chgData name="Sudeepth Sasikumar" userId="ac08cd68f9c3603f" providerId="LiveId" clId="{8595FD1B-5595-4DB3-BA0A-8BFAF68828F0}" dt="2026-10-06T09:33:28.929" v="26" actId="14100"/>
        <pc:sldMkLst>
          <pc:docMk/>
          <pc:sldMk cId="0" sldId="265"/>
        </pc:sldMkLst>
        <pc:spChg chg="mod">
          <ac:chgData name="Sudeepth Sasikumar" userId="ac08cd68f9c3603f" providerId="LiveId" clId="{8595FD1B-5595-4DB3-BA0A-8BFAF68828F0}" dt="2026-10-06T09:33:05.376" v="20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Sudeepth Sasikumar" userId="ac08cd68f9c3603f" providerId="LiveId" clId="{8595FD1B-5595-4DB3-BA0A-8BFAF68828F0}" dt="2026-10-06T09:33:08.627" v="21" actId="1076"/>
          <ac:spMkLst>
            <pc:docMk/>
            <pc:sldMk cId="0" sldId="265"/>
            <ac:spMk id="11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1:00.089" v="6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1:00.089" v="6" actId="478"/>
          <ac:spMkLst>
            <pc:docMk/>
            <pc:sldMk cId="0" sldId="265"/>
            <ac:spMk id="13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1:00.089" v="6" actId="478"/>
          <ac:spMkLst>
            <pc:docMk/>
            <pc:sldMk cId="0" sldId="265"/>
            <ac:spMk id="14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1:00.089" v="6" actId="478"/>
          <ac:spMkLst>
            <pc:docMk/>
            <pc:sldMk cId="0" sldId="265"/>
            <ac:spMk id="15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1:00.089" v="6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1:00.089" v="6" actId="478"/>
          <ac:spMkLst>
            <pc:docMk/>
            <pc:sldMk cId="0" sldId="265"/>
            <ac:spMk id="17" creationId="{00000000-0000-0000-0000-000000000000}"/>
          </ac:spMkLst>
        </pc:spChg>
        <pc:picChg chg="add mod modCrop">
          <ac:chgData name="Sudeepth Sasikumar" userId="ac08cd68f9c3603f" providerId="LiveId" clId="{8595FD1B-5595-4DB3-BA0A-8BFAF68828F0}" dt="2026-10-06T09:33:28.929" v="26" actId="14100"/>
          <ac:picMkLst>
            <pc:docMk/>
            <pc:sldMk cId="0" sldId="265"/>
            <ac:picMk id="21" creationId="{A16E7947-1851-3595-B7C2-509E15D59167}"/>
          </ac:picMkLst>
        </pc:picChg>
      </pc:sldChg>
      <pc:sldChg chg="addSp delSp modSp mod">
        <pc:chgData name="Sudeepth Sasikumar" userId="ac08cd68f9c3603f" providerId="LiveId" clId="{8595FD1B-5595-4DB3-BA0A-8BFAF68828F0}" dt="2026-10-06T09:35:50.997" v="42" actId="14100"/>
        <pc:sldMkLst>
          <pc:docMk/>
          <pc:sldMk cId="0" sldId="266"/>
        </pc:sldMkLst>
        <pc:spChg chg="mod">
          <ac:chgData name="Sudeepth Sasikumar" userId="ac08cd68f9c3603f" providerId="LiveId" clId="{8595FD1B-5595-4DB3-BA0A-8BFAF68828F0}" dt="2026-10-06T09:35:14.842" v="36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Sudeepth Sasikumar" userId="ac08cd68f9c3603f" providerId="LiveId" clId="{8595FD1B-5595-4DB3-BA0A-8BFAF68828F0}" dt="2026-10-06T09:35:19.015" v="37" actId="1076"/>
          <ac:spMkLst>
            <pc:docMk/>
            <pc:sldMk cId="0" sldId="266"/>
            <ac:spMk id="11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0:01.707" v="0" actId="478"/>
          <ac:spMkLst>
            <pc:docMk/>
            <pc:sldMk cId="0" sldId="266"/>
            <ac:spMk id="12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0:09.319" v="1" actId="478"/>
          <ac:spMkLst>
            <pc:docMk/>
            <pc:sldMk cId="0" sldId="266"/>
            <ac:spMk id="13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0:11.996" v="2" actId="478"/>
          <ac:spMkLst>
            <pc:docMk/>
            <pc:sldMk cId="0" sldId="266"/>
            <ac:spMk id="14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0:14.986" v="3" actId="478"/>
          <ac:spMkLst>
            <pc:docMk/>
            <pc:sldMk cId="0" sldId="266"/>
            <ac:spMk id="15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0:19.664" v="4" actId="478"/>
          <ac:spMkLst>
            <pc:docMk/>
            <pc:sldMk cId="0" sldId="266"/>
            <ac:spMk id="16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0:23.230" v="5" actId="478"/>
          <ac:spMkLst>
            <pc:docMk/>
            <pc:sldMk cId="0" sldId="266"/>
            <ac:spMk id="17" creationId="{00000000-0000-0000-0000-000000000000}"/>
          </ac:spMkLst>
        </pc:spChg>
        <pc:picChg chg="add mod modCrop">
          <ac:chgData name="Sudeepth Sasikumar" userId="ac08cd68f9c3603f" providerId="LiveId" clId="{8595FD1B-5595-4DB3-BA0A-8BFAF68828F0}" dt="2026-10-06T09:35:50.997" v="42" actId="14100"/>
          <ac:picMkLst>
            <pc:docMk/>
            <pc:sldMk cId="0" sldId="266"/>
            <ac:picMk id="21" creationId="{C2ACCB40-2282-1E47-3D7B-3193077F4660}"/>
          </ac:picMkLst>
        </pc:picChg>
      </pc:sldChg>
      <pc:sldChg chg="addSp delSp modSp mod">
        <pc:chgData name="Sudeepth Sasikumar" userId="ac08cd68f9c3603f" providerId="LiveId" clId="{8595FD1B-5595-4DB3-BA0A-8BFAF68828F0}" dt="2026-10-06T09:37:18.427" v="53" actId="14100"/>
        <pc:sldMkLst>
          <pc:docMk/>
          <pc:sldMk cId="0" sldId="267"/>
        </pc:sldMkLst>
        <pc:spChg chg="mod">
          <ac:chgData name="Sudeepth Sasikumar" userId="ac08cd68f9c3603f" providerId="LiveId" clId="{8595FD1B-5595-4DB3-BA0A-8BFAF68828F0}" dt="2026-10-06T09:36:17.938" v="43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Sudeepth Sasikumar" userId="ac08cd68f9c3603f" providerId="LiveId" clId="{8595FD1B-5595-4DB3-BA0A-8BFAF68828F0}" dt="2026-10-06T09:36:22.640" v="44" actId="1076"/>
          <ac:spMkLst>
            <pc:docMk/>
            <pc:sldMk cId="0" sldId="267"/>
            <ac:spMk id="11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1:08.558" v="7" actId="478"/>
          <ac:spMkLst>
            <pc:docMk/>
            <pc:sldMk cId="0" sldId="267"/>
            <ac:spMk id="12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1:08.558" v="7" actId="478"/>
          <ac:spMkLst>
            <pc:docMk/>
            <pc:sldMk cId="0" sldId="267"/>
            <ac:spMk id="13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1:08.558" v="7" actId="478"/>
          <ac:spMkLst>
            <pc:docMk/>
            <pc:sldMk cId="0" sldId="267"/>
            <ac:spMk id="14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1:08.558" v="7" actId="478"/>
          <ac:spMkLst>
            <pc:docMk/>
            <pc:sldMk cId="0" sldId="267"/>
            <ac:spMk id="15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1:08.558" v="7" actId="478"/>
          <ac:spMkLst>
            <pc:docMk/>
            <pc:sldMk cId="0" sldId="267"/>
            <ac:spMk id="16" creationId="{00000000-0000-0000-0000-000000000000}"/>
          </ac:spMkLst>
        </pc:spChg>
        <pc:spChg chg="del">
          <ac:chgData name="Sudeepth Sasikumar" userId="ac08cd68f9c3603f" providerId="LiveId" clId="{8595FD1B-5595-4DB3-BA0A-8BFAF68828F0}" dt="2026-10-06T09:31:08.558" v="7" actId="478"/>
          <ac:spMkLst>
            <pc:docMk/>
            <pc:sldMk cId="0" sldId="267"/>
            <ac:spMk id="17" creationId="{00000000-0000-0000-0000-000000000000}"/>
          </ac:spMkLst>
        </pc:spChg>
        <pc:picChg chg="add mod modCrop">
          <ac:chgData name="Sudeepth Sasikumar" userId="ac08cd68f9c3603f" providerId="LiveId" clId="{8595FD1B-5595-4DB3-BA0A-8BFAF68828F0}" dt="2026-10-06T09:37:18.427" v="53" actId="14100"/>
          <ac:picMkLst>
            <pc:docMk/>
            <pc:sldMk cId="0" sldId="267"/>
            <ac:picMk id="21" creationId="{60E296F3-6F7A-B6A0-EB66-A667A5AC4E90}"/>
          </ac:picMkLst>
        </pc:picChg>
      </pc:sldChg>
      <pc:sldChg chg="add del">
        <pc:chgData name="Sudeepth Sasikumar" userId="ac08cd68f9c3603f" providerId="LiveId" clId="{8595FD1B-5595-4DB3-BA0A-8BFAF68828F0}" dt="2026-10-06T09:37:39.057" v="55" actId="2696"/>
        <pc:sldMkLst>
          <pc:docMk/>
          <pc:sldMk cId="0" sldId="269"/>
        </pc:sldMkLst>
      </pc:sldChg>
      <pc:sldChg chg="delSp modSp add mod">
        <pc:chgData name="Sudeepth Sasikumar" userId="ac08cd68f9c3603f" providerId="LiveId" clId="{8595FD1B-5595-4DB3-BA0A-8BFAF68828F0}" dt="2026-10-06T09:39:06.338" v="76" actId="1076"/>
        <pc:sldMkLst>
          <pc:docMk/>
          <pc:sldMk cId="4011858159" sldId="270"/>
        </pc:sldMkLst>
        <pc:spChg chg="del">
          <ac:chgData name="Sudeepth Sasikumar" userId="ac08cd68f9c3603f" providerId="LiveId" clId="{8595FD1B-5595-4DB3-BA0A-8BFAF68828F0}" dt="2026-10-06T09:38:18.726" v="57" actId="478"/>
          <ac:spMkLst>
            <pc:docMk/>
            <pc:sldMk cId="4011858159" sldId="270"/>
            <ac:spMk id="2" creationId="{77DCA2D4-3855-4BC7-E669-B5A420D782C1}"/>
          </ac:spMkLst>
        </pc:spChg>
        <pc:spChg chg="mod">
          <ac:chgData name="Sudeepth Sasikumar" userId="ac08cd68f9c3603f" providerId="LiveId" clId="{8595FD1B-5595-4DB3-BA0A-8BFAF68828F0}" dt="2026-10-06T09:39:06.338" v="76" actId="1076"/>
          <ac:spMkLst>
            <pc:docMk/>
            <pc:sldMk cId="4011858159" sldId="270"/>
            <ac:spMk id="4" creationId="{357035CB-0A82-4EDF-55DF-FC38B5E582E3}"/>
          </ac:spMkLst>
        </pc:spChg>
        <pc:spChg chg="del">
          <ac:chgData name="Sudeepth Sasikumar" userId="ac08cd68f9c3603f" providerId="LiveId" clId="{8595FD1B-5595-4DB3-BA0A-8BFAF68828F0}" dt="2026-10-06T09:38:18.726" v="57" actId="478"/>
          <ac:spMkLst>
            <pc:docMk/>
            <pc:sldMk cId="4011858159" sldId="270"/>
            <ac:spMk id="7" creationId="{11FC81EF-39FC-1434-B707-179050E6F949}"/>
          </ac:spMkLst>
        </pc:spChg>
        <pc:spChg chg="del">
          <ac:chgData name="Sudeepth Sasikumar" userId="ac08cd68f9c3603f" providerId="LiveId" clId="{8595FD1B-5595-4DB3-BA0A-8BFAF68828F0}" dt="2026-10-06T09:38:18.726" v="57" actId="478"/>
          <ac:spMkLst>
            <pc:docMk/>
            <pc:sldMk cId="4011858159" sldId="270"/>
            <ac:spMk id="8" creationId="{49145296-140E-E7E5-E3D6-C32DA98F5D97}"/>
          </ac:spMkLst>
        </pc:spChg>
        <pc:spChg chg="del">
          <ac:chgData name="Sudeepth Sasikumar" userId="ac08cd68f9c3603f" providerId="LiveId" clId="{8595FD1B-5595-4DB3-BA0A-8BFAF68828F0}" dt="2026-10-06T09:38:18.726" v="57" actId="478"/>
          <ac:spMkLst>
            <pc:docMk/>
            <pc:sldMk cId="4011858159" sldId="270"/>
            <ac:spMk id="10" creationId="{702DAF60-CA2D-EF4F-3BD3-BDD8B2638A29}"/>
          </ac:spMkLst>
        </pc:spChg>
        <pc:spChg chg="del">
          <ac:chgData name="Sudeepth Sasikumar" userId="ac08cd68f9c3603f" providerId="LiveId" clId="{8595FD1B-5595-4DB3-BA0A-8BFAF68828F0}" dt="2026-10-06T09:38:18.726" v="57" actId="478"/>
          <ac:spMkLst>
            <pc:docMk/>
            <pc:sldMk cId="4011858159" sldId="270"/>
            <ac:spMk id="11" creationId="{8D19EE56-F9F6-5B36-3DA9-445FC3EC65C0}"/>
          </ac:spMkLst>
        </pc:spChg>
        <pc:spChg chg="del">
          <ac:chgData name="Sudeepth Sasikumar" userId="ac08cd68f9c3603f" providerId="LiveId" clId="{8595FD1B-5595-4DB3-BA0A-8BFAF68828F0}" dt="2026-10-06T09:38:22.045" v="58" actId="478"/>
          <ac:spMkLst>
            <pc:docMk/>
            <pc:sldMk cId="4011858159" sldId="270"/>
            <ac:spMk id="12" creationId="{87FF4230-8692-6019-A14A-7EA84CF39FC0}"/>
          </ac:spMkLst>
        </pc:spChg>
        <pc:spChg chg="del">
          <ac:chgData name="Sudeepth Sasikumar" userId="ac08cd68f9c3603f" providerId="LiveId" clId="{8595FD1B-5595-4DB3-BA0A-8BFAF68828F0}" dt="2026-10-06T09:38:18.726" v="57" actId="478"/>
          <ac:spMkLst>
            <pc:docMk/>
            <pc:sldMk cId="4011858159" sldId="270"/>
            <ac:spMk id="15" creationId="{27D4E985-5C01-36E4-F5B4-4969AE9B61AB}"/>
          </ac:spMkLst>
        </pc:spChg>
        <pc:spChg chg="del">
          <ac:chgData name="Sudeepth Sasikumar" userId="ac08cd68f9c3603f" providerId="LiveId" clId="{8595FD1B-5595-4DB3-BA0A-8BFAF68828F0}" dt="2026-10-06T09:38:18.726" v="57" actId="478"/>
          <ac:spMkLst>
            <pc:docMk/>
            <pc:sldMk cId="4011858159" sldId="270"/>
            <ac:spMk id="16" creationId="{8F8D0E56-A76F-7D5A-BA99-19CE07D0AECC}"/>
          </ac:spMkLst>
        </pc:spChg>
        <pc:spChg chg="del">
          <ac:chgData name="Sudeepth Sasikumar" userId="ac08cd68f9c3603f" providerId="LiveId" clId="{8595FD1B-5595-4DB3-BA0A-8BFAF68828F0}" dt="2026-10-06T09:38:18.726" v="57" actId="478"/>
          <ac:spMkLst>
            <pc:docMk/>
            <pc:sldMk cId="4011858159" sldId="270"/>
            <ac:spMk id="18" creationId="{E28FBFF6-984E-DA94-FCF6-7C94CA743AB2}"/>
          </ac:spMkLst>
        </pc:spChg>
        <pc:spChg chg="del">
          <ac:chgData name="Sudeepth Sasikumar" userId="ac08cd68f9c3603f" providerId="LiveId" clId="{8595FD1B-5595-4DB3-BA0A-8BFAF68828F0}" dt="2026-10-06T09:38:18.726" v="57" actId="478"/>
          <ac:spMkLst>
            <pc:docMk/>
            <pc:sldMk cId="4011858159" sldId="270"/>
            <ac:spMk id="21" creationId="{B37D2729-8A6C-22C1-F2F2-9BE83B21EB9E}"/>
          </ac:spMkLst>
        </pc:spChg>
        <pc:spChg chg="del">
          <ac:chgData name="Sudeepth Sasikumar" userId="ac08cd68f9c3603f" providerId="LiveId" clId="{8595FD1B-5595-4DB3-BA0A-8BFAF68828F0}" dt="2026-10-06T09:38:18.726" v="57" actId="478"/>
          <ac:spMkLst>
            <pc:docMk/>
            <pc:sldMk cId="4011858159" sldId="270"/>
            <ac:spMk id="27" creationId="{18616865-9B0B-5B17-0B70-FDB344942ACB}"/>
          </ac:spMkLst>
        </pc:spChg>
        <pc:spChg chg="mod">
          <ac:chgData name="Sudeepth Sasikumar" userId="ac08cd68f9c3603f" providerId="LiveId" clId="{8595FD1B-5595-4DB3-BA0A-8BFAF68828F0}" dt="2026-10-06T09:38:33.044" v="63" actId="20577"/>
          <ac:spMkLst>
            <pc:docMk/>
            <pc:sldMk cId="4011858159" sldId="270"/>
            <ac:spMk id="30" creationId="{5AC56CFD-ED3F-E616-65C4-F9A5D0486EC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001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7075E-99D0-AB1B-66D7-0455643F2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4C6108-E872-C1B3-15CE-D9FB5E9AF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C82FBD-C5B8-AD42-A4B9-8278B36F1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04752-AC4B-C276-6692-65AEBAC27D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75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8B2635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937760"/>
            <a:ext cx="2377440" cy="2377440"/>
          </a:xfrm>
          <a:prstGeom prst="ellipse">
            <a:avLst/>
          </a:prstGeom>
          <a:solidFill>
            <a:srgbClr val="B7394C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51560"/>
            <a:ext cx="1874520" cy="365760"/>
          </a:xfrm>
          <a:prstGeom prst="roundRect">
            <a:avLst>
              <a:gd name="adj" fmla="val 50000"/>
            </a:avLst>
          </a:prstGeom>
          <a:solidFill>
            <a:srgbClr val="E8909A">
              <a:alpha val="22000"/>
            </a:srgbClr>
          </a:solidFill>
          <a:ln w="12700">
            <a:solidFill>
              <a:srgbClr val="E890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E8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PROJECT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Analytics</a:t>
            </a:r>
            <a:endParaRPr lang="en-US" sz="5000" dirty="0"/>
          </a:p>
          <a:p>
            <a:pPr marL="0" indent="0" algn="l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dirty="0">
                <a:solidFill>
                  <a:srgbClr val="E7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 Modeling  ·  Calculated Columns  ·  Attrition &amp; Retrenchment Measures  ·  3-Page Interactive Dashboard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58368" y="5806440"/>
            <a:ext cx="2926080" cy="0"/>
          </a:xfrm>
          <a:prstGeom prst="line">
            <a:avLst/>
          </a:prstGeom>
          <a:noFill/>
          <a:ln w="15875">
            <a:solidFill>
              <a:srgbClr val="E890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HR Workforce Analytics Review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6199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7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files:  HR_Analytics_Dashboard.pbix  ·  HR_Attrition_Dashboard.xlsx  ·  1,478 employee records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2331720" cy="384048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A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02920" cy="502920"/>
          </a:xfrm>
          <a:prstGeom prst="ellipse">
            <a:avLst/>
          </a:prstGeom>
          <a:solidFill>
            <a:srgbClr val="F8D7DA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72821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Business Question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2075688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dashboard exists and the workforce question it answers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rgbClr val="F8D7DA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15568" y="287121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5568" y="3218688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1,478-row, 41-column employee dataset behind the model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502920" cy="502920"/>
          </a:xfrm>
          <a:prstGeom prst="ellipse">
            <a:avLst/>
          </a:prstGeom>
          <a:solidFill>
            <a:srgbClr val="F8D7DA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401421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4361688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fields engineered inside the workbook / data model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5212080"/>
            <a:ext cx="502920" cy="502920"/>
          </a:xfrm>
          <a:prstGeom prst="ellipse">
            <a:avLst/>
          </a:prstGeom>
          <a:solidFill>
            <a:srgbClr val="F8D7DA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5568" y="515721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&amp; Attrition Measures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" y="5504688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Excel formulas driving the attrition summary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63640" y="1783080"/>
            <a:ext cx="502920" cy="502920"/>
          </a:xfrm>
          <a:prstGeom prst="ellipse">
            <a:avLst/>
          </a:prstGeom>
          <a:solidFill>
            <a:srgbClr val="F8D7DA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22008" y="172821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 (Power BI Report)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22008" y="2075688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measures that power every dashboard visual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2926080"/>
            <a:ext cx="502920" cy="502920"/>
          </a:xfrm>
          <a:prstGeom prst="ellipse">
            <a:avLst/>
          </a:prstGeom>
          <a:solidFill>
            <a:srgbClr val="F8D7DA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22008" y="287121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Specifications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22008" y="3218688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chart, which fields, which question it answers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4069080"/>
            <a:ext cx="502920" cy="502920"/>
          </a:xfrm>
          <a:prstGeom prst="ellipse">
            <a:avLst/>
          </a:prstGeom>
          <a:solidFill>
            <a:srgbClr val="F8D7DA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22008" y="401421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Dashboard Layout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922008" y="4361688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Details · Action — plus screenshot pages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63640" y="5212080"/>
            <a:ext cx="502920" cy="502920"/>
          </a:xfrm>
          <a:prstGeom prst="ellipse">
            <a:avLst/>
          </a:prstGeom>
          <a:solidFill>
            <a:srgbClr val="F8D7DA"/>
          </a:solidFill>
          <a:ln w="12700">
            <a:solidFill>
              <a:srgbClr val="8B26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22008" y="515721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22008" y="5504688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actually tell HR leadership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Power BI Project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A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Business Question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HR leadership a 3-page Power BI dashboard that turns 1,478 raw employee records into a trusted, interactive view of headcount, performance rating and promotion / retrenchment risk — down to the individual employee ID — without manual spreadsheet digging.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292608" cy="292608"/>
          </a:xfrm>
          <a:prstGeom prst="ellipse">
            <a:avLst/>
          </a:prstGeom>
          <a:solidFill>
            <a:srgbClr val="B7394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657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3602736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and job roles carry the most promotion vs. retrenchment risk?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261104"/>
            <a:ext cx="292608" cy="292608"/>
          </a:xfrm>
          <a:prstGeom prst="ellipse">
            <a:avLst/>
          </a:prstGeom>
          <a:solidFill>
            <a:srgbClr val="B7394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261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" y="4206240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the workforce performing — where does the low/high rating split concentrate?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864608"/>
            <a:ext cx="292608" cy="292608"/>
          </a:xfrm>
          <a:prstGeom prst="ellipse">
            <a:avLst/>
          </a:prstGeom>
          <a:solidFill>
            <a:srgbClr val="B7394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864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" y="4809744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specific employees (by emp no) need action this cycle?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468112"/>
            <a:ext cx="292608" cy="292608"/>
          </a:xfrm>
          <a:prstGeom prst="ellipse">
            <a:avLst/>
          </a:prstGeom>
          <a:solidFill>
            <a:srgbClr val="B7394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5468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5413248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underlying HR dataset, what drives attrition and flight-risk scoring?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52360" y="1828800"/>
            <a:ext cx="4251960" cy="4251960"/>
          </a:xfrm>
          <a:prstGeom prst="roundRect">
            <a:avLst>
              <a:gd name="adj" fmla="val 2581"/>
            </a:avLst>
          </a:prstGeom>
          <a:solidFill>
            <a:srgbClr val="5E1620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21488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8909A">
              <a:alpha val="22000"/>
            </a:srgbClr>
          </a:solidFill>
          <a:ln w="12700">
            <a:solidFill>
              <a:srgbClr val="E890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E8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INSIGHT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0" y="26517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7772400" y="34290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E7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tracked on the live dashboard (882 male / 588 female) — 117 flagged Due for Retrenchment and 72 Due for Promotion this cycle.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0" y="4434840"/>
            <a:ext cx="3611880" cy="0"/>
          </a:xfrm>
          <a:prstGeom prst="line">
            <a:avLst/>
          </a:prstGeom>
          <a:noFill/>
          <a:ln w="12700">
            <a:solidFill>
              <a:srgbClr val="B739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457200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is the single highest-risk role: only 102 managers, yet 44 are Due for Retrenchment and 22 Due for Promotion — 65% of that role is flagged for action.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Power BI Project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A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HR_Attrition_Dashboard.xlsx  ·  HRData / Data sheet  ·  1,478 rows × 41 columns  ·  feeds the Power BI model as Table1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6949440" cy="382219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employee identifier (e.g. VK2970)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/ AgeGroup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 /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age, and a derived 5-band age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(Yes/No)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employee has left the company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/ JobRole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Organizational unit and specific job 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MonthlyIncome / AnnualIncome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pay, and a derived yearly figure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(Yes/No)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employee regularly works overtime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JobSatisfaction / WorkLifeBalance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 (1–4)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Self-reported satisfaction and balance ratings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YearsatCompany / YearsSincePromotion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and time since last promotion, in years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DistanceFromHome(KM)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Commute distance from home to office, in km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PerformanceRating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Manager-assigned performance rating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26680" y="187452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8D7DA"/>
          </a:solidFill>
          <a:ln/>
        </p:spPr>
      </p:sp>
      <p:sp>
        <p:nvSpPr>
          <p:cNvPr id="8" name="Text 5"/>
          <p:cNvSpPr/>
          <p:nvPr/>
        </p:nvSpPr>
        <p:spPr>
          <a:xfrm>
            <a:off x="7909560" y="19476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1,478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909560" y="2441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 (rows)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26680" y="297180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8D7DA"/>
          </a:solidFill>
          <a:ln/>
        </p:spPr>
      </p:sp>
      <p:sp>
        <p:nvSpPr>
          <p:cNvPr id="11" name="Text 8"/>
          <p:cNvSpPr/>
          <p:nvPr/>
        </p:nvSpPr>
        <p:spPr>
          <a:xfrm>
            <a:off x="7909560" y="30449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909560" y="35387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— raw + engineered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26680" y="406908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8D7DA"/>
          </a:solidFill>
          <a:ln/>
        </p:spPr>
      </p:sp>
      <p:sp>
        <p:nvSpPr>
          <p:cNvPr id="14" name="Text 11"/>
          <p:cNvSpPr/>
          <p:nvPr/>
        </p:nvSpPr>
        <p:spPr>
          <a:xfrm>
            <a:off x="7909560" y="4142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239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909560" y="4636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Attrition = Yes (16.2%)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726680" y="516636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8D7DA"/>
          </a:solidFill>
          <a:ln/>
        </p:spPr>
      </p:sp>
      <p:sp>
        <p:nvSpPr>
          <p:cNvPr id="17" name="Text 14"/>
          <p:cNvSpPr/>
          <p:nvPr/>
        </p:nvSpPr>
        <p:spPr>
          <a:xfrm>
            <a:off x="7909560" y="523951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B2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₹49,514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909560" y="5733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monthly income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Power BI Project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A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 Columns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fields engineered inside HRData — verified against the underlying row values, not stored as raw source data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402336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(verified logic)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AnnualIncome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MonthlyIncome × 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Converts monthly pay to yearly, for salary banding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SalarySlab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 of AnnualIncome ÷ 100,000 → 0-3 / 3-6 / 6-10 / 10+ LPA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employees into pay bands for attrition-by-pay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 of Age → 18-25 / 26-35 / 36-45 / 46-55 / 55+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banding for age-based slicing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 of YearsatCompany → 0-1 / 2-3 / 4-5 / 6-10 / 10+ yrs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Groups employees by length of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AttritionFlag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IF(Attrition = "Yes", 1, 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flag so attrition can be summed / averaged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PromotionOverdue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IF(YearsSincePromotion ≥ 3, "Overdue", "Recent")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employees waiting too long for advancement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IncomeVsRoleAvg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(MonthlyIncome − AVERAGEIF(JobRole, MonthlyIncome)) ÷ AVERAGEIF(JobRole, MonthlyIncome)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an employee's pay sits above / below their role's average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FlightRiskScore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(OverTime=Yes) + (WorkLifeBalance≤2) + (JobSatisfaction≤2) + (YearsSincePromotion≥3)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0–4 count of retention risk flags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FlightRiskTier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 of FlightRiskScore → Minimal / Low / Medium / High 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the numeric score into an actionable risk 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Power BI Project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A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&amp; Attrition Measures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Excel formulas on the Summary sheet — recalculated from the Data sheet on every refresh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2039112"/>
            <a:ext cx="365760" cy="36576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00253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951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3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=COUNTA(Data!G2:G1479)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953512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" y="3118104"/>
            <a:ext cx="365760" cy="36576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0815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Left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37413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3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=COUNTIF(Data!D2:D1479,"Yes")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032504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4197096"/>
            <a:ext cx="365760" cy="36576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41605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4531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3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=Employees Left / Total Employees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5111496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" y="5276088"/>
            <a:ext cx="365760" cy="36576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" y="5276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523951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Income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55321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3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=AVERAGE(Data!S2:S1479)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17920" y="187452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82512" y="2039112"/>
            <a:ext cx="365760" cy="36576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28" name="Text 26"/>
          <p:cNvSpPr/>
          <p:nvPr/>
        </p:nvSpPr>
        <p:spPr>
          <a:xfrm>
            <a:off x="6382512" y="2039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200253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 (yrs)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58000" y="22951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3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=AVERAGE(Data!AE2:AE1479)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2953512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82512" y="3118104"/>
            <a:ext cx="365760" cy="36576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33" name="Text 31"/>
          <p:cNvSpPr/>
          <p:nvPr/>
        </p:nvSpPr>
        <p:spPr>
          <a:xfrm>
            <a:off x="6382512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58000" y="30815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 – Left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0" y="337413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3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=AVERAGEIF(Data!D2:D1479,"Yes",Data!AE2:AE1479)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4032504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82512" y="4197096"/>
            <a:ext cx="365760" cy="36576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38" name="Text 36"/>
          <p:cNvSpPr/>
          <p:nvPr/>
        </p:nvSpPr>
        <p:spPr>
          <a:xfrm>
            <a:off x="6382512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416052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 – Active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58000" y="4453128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3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=AVERAGEIF(Data!D2:D1479,"No",Data!AE2:AE1479)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17920" y="5111496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82512" y="5276088"/>
            <a:ext cx="365760" cy="36576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43" name="Text 41"/>
          <p:cNvSpPr/>
          <p:nvPr/>
        </p:nvSpPr>
        <p:spPr>
          <a:xfrm>
            <a:off x="6382512" y="5276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58000" y="523951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by Category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858000" y="55321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3A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=IFERROR(Left / Total, 0) — reused for Department, OverTime, Age Group, Job Role, Work-Life Balance, Marital Status &amp; Salary Slab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Power BI Project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A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 — Power BI Report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report's own "Dax Measure" table — used across every card, chart and table on all 3 pages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1247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745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Total_Employees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40480" y="187452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measure shown on every KPI card; the base for all dashboard totals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482596"/>
            <a:ext cx="11247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8259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840480" y="248259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 measures shown on the Home-page headcount cards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11247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09067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for Promotion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40480" y="309067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employees flagged ready for advancement this cycle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698748"/>
            <a:ext cx="11247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9874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for Retrenchment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840480" y="3698748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employees flagged at risk of role reduction this cycle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306824"/>
            <a:ext cx="11247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0682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Due For Promotion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40480" y="430682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 of Due for Promotion, shown on the Details page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914900"/>
            <a:ext cx="11247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91490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Active_Workers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840480" y="4914900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currently active (non-exited) employees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5522976"/>
            <a:ext cx="1124712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52297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Rating / High Rating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840480" y="5522976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employees at each performance-rating tier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DAX expressions are compiled inside the .pbix data model and are not stored as readable text in the file; names, formats and usage above are read directly from the report's visual definitions.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Power BI Project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A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Specifications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visual, read from the report layout — scoped to one clear question per chart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11247120" cy="43891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 Used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6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It Answers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6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Total_Employees · Male · Female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our current headcount and gender split?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Clustered 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× Due for Retrenchment / Promotion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department carries the most action cases?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Chart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Satisfaction Level × Total_Employees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satisfied is the workforce overall?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Chart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 Time × Total_Employees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share of staff regularly work overtime?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Pivot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Role × Total_Employees / Promotion / Retrenchment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Role-by-role breakdown of headcount and action counts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Rating · High 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is performance rated across the company?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 At Company × Total_Employees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is tenure distributed across the workforce?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Chart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Level × Total_Employees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is seniority distributed?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Donut Chart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From Office × Total_Employees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far do employees commute?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 no × Due for Promotion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who is due for promotion?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 no × Due for Retrenchment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C3A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who is due for retrenchment?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DC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Power BI Project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A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3-Page Dashboard Layout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 model, three focused pages — navigated with the Home / Details / Action pill menu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566160" cy="4160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7452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8B263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148840"/>
            <a:ext cx="3566160" cy="22860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874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Headcount, satisfaction &amp; action snapshot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Total_Employees 1.47K · Male 882 · Female 588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5021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Retrenchment / promotion by Department (R&amp;D highest)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9410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Job Satisfaction split: Low / Medium / High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43799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Over Time share: 71.7% No · 28.3% Yes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48188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Low Rating 84.63% · High Rating 15.37%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52578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Job Role pivot: headcount, promotion &amp; retrenchment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79392" y="1874520"/>
            <a:ext cx="3566160" cy="4160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9392" y="187452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8B2635"/>
          </a:solidFill>
          <a:ln/>
        </p:spPr>
      </p:sp>
      <p:sp>
        <p:nvSpPr>
          <p:cNvPr id="19" name="Shape 17"/>
          <p:cNvSpPr/>
          <p:nvPr/>
        </p:nvSpPr>
        <p:spPr>
          <a:xfrm>
            <a:off x="4279392" y="2148840"/>
            <a:ext cx="3566160" cy="22860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20" name="Text 18"/>
          <p:cNvSpPr/>
          <p:nvPr/>
        </p:nvSpPr>
        <p:spPr>
          <a:xfrm>
            <a:off x="4279392" y="1874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07992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seniority &amp; commute profile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07992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Due for Promotion 72 · Not Due 1.398K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07992" y="35021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Due for Retrenchment 117 · Active Workers 1.233K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07992" y="394106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Years at Company: 5-yr band leads at 196 employees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07992" y="437997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Job Level: levels 1–2 hold the bulk of headcount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07992" y="48188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Distance from Office: 63.95% live Very Close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101584" y="1874520"/>
            <a:ext cx="3566160" cy="41605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01584" y="1874520"/>
            <a:ext cx="3566160" cy="502920"/>
          </a:xfrm>
          <a:prstGeom prst="roundRect">
            <a:avLst>
              <a:gd name="adj" fmla="val 18182"/>
            </a:avLst>
          </a:prstGeom>
          <a:solidFill>
            <a:srgbClr val="8B2635"/>
          </a:solidFill>
          <a:ln/>
        </p:spPr>
      </p:sp>
      <p:sp>
        <p:nvSpPr>
          <p:cNvPr id="29" name="Shape 27"/>
          <p:cNvSpPr/>
          <p:nvPr/>
        </p:nvSpPr>
        <p:spPr>
          <a:xfrm>
            <a:off x="8101584" y="2148840"/>
            <a:ext cx="3566160" cy="22860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30" name="Text 28"/>
          <p:cNvSpPr/>
          <p:nvPr/>
        </p:nvSpPr>
        <p:spPr>
          <a:xfrm>
            <a:off x="8101584" y="1874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330184" y="2514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employees requiring a decision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330184" y="30632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Emp-no list — Due for Promotion (72 employees)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330184" y="35021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Emp-no list — Due for Retrenchment (117 employees)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30184" y="3941064"/>
            <a:ext cx="3108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Callout: "the set of employees that would either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be promoted or retired"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Power BI Project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4114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</p:sp>
      <p:sp>
        <p:nvSpPr>
          <p:cNvPr id="3" name="Text 1"/>
          <p:cNvSpPr/>
          <p:nvPr/>
        </p:nvSpPr>
        <p:spPr>
          <a:xfrm>
            <a:off x="8915400" y="4114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8D7DA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114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018520" y="4114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8D7DA"/>
          </a:solidFill>
          <a:ln/>
        </p:spPr>
      </p:sp>
      <p:sp>
        <p:nvSpPr>
          <p:cNvPr id="7" name="Text 5"/>
          <p:cNvSpPr/>
          <p:nvPr/>
        </p:nvSpPr>
        <p:spPr>
          <a:xfrm>
            <a:off x="11018520" y="4114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4114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11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608076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1043823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Headcount, satisfaction and department-level action snapshot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Power BI Project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16E7947-1851-3595-B7C2-509E15D591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6" t="12763" r="2780" b="934"/>
          <a:stretch>
            <a:fillRect/>
          </a:stretch>
        </p:blipFill>
        <p:spPr>
          <a:xfrm>
            <a:off x="593969" y="1363863"/>
            <a:ext cx="10949354" cy="51558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4114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8D7DA"/>
          </a:solidFill>
          <a:ln/>
        </p:spPr>
      </p:sp>
      <p:sp>
        <p:nvSpPr>
          <p:cNvPr id="3" name="Text 1"/>
          <p:cNvSpPr/>
          <p:nvPr/>
        </p:nvSpPr>
        <p:spPr>
          <a:xfrm>
            <a:off x="8915400" y="4114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114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018520" y="4114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8D7DA"/>
          </a:solidFill>
          <a:ln/>
        </p:spPr>
      </p:sp>
      <p:sp>
        <p:nvSpPr>
          <p:cNvPr id="7" name="Text 5"/>
          <p:cNvSpPr/>
          <p:nvPr/>
        </p:nvSpPr>
        <p:spPr>
          <a:xfrm>
            <a:off x="11018520" y="4114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4114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11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592327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Details Page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97840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seniority and commute-distance profile of the workforce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Power BI Project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2ACCB40-2282-1E47-3D7B-3193077F46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6" t="12536" r="2780" b="1994"/>
          <a:stretch>
            <a:fillRect/>
          </a:stretch>
        </p:blipFill>
        <p:spPr>
          <a:xfrm>
            <a:off x="640862" y="1235535"/>
            <a:ext cx="10925907" cy="52841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5400" y="4114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8D7DA"/>
          </a:solidFill>
          <a:ln/>
        </p:spPr>
      </p:sp>
      <p:sp>
        <p:nvSpPr>
          <p:cNvPr id="3" name="Text 1"/>
          <p:cNvSpPr/>
          <p:nvPr/>
        </p:nvSpPr>
        <p:spPr>
          <a:xfrm>
            <a:off x="8915400" y="4114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966960" y="4114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8D7DA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0" y="4114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018520" y="41148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</p:sp>
      <p:sp>
        <p:nvSpPr>
          <p:cNvPr id="7" name="Text 5"/>
          <p:cNvSpPr/>
          <p:nvPr/>
        </p:nvSpPr>
        <p:spPr>
          <a:xfrm>
            <a:off x="11018520" y="4114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41148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114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679001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Page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1085909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employee lists for promotion and retrenchment decisions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Power BI Project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0E296F3-6F7A-B6A0-EB66-A667A5AC4E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1" t="13298" r="2780" b="512"/>
          <a:stretch>
            <a:fillRect/>
          </a:stretch>
        </p:blipFill>
        <p:spPr>
          <a:xfrm>
            <a:off x="797169" y="1405949"/>
            <a:ext cx="10722707" cy="511372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8B26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3A14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&amp; 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2075688"/>
            <a:ext cx="402336" cy="402336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0574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Retrenchment risk is concentrated, not spread evenly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624328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shows the highest combined action count by department, and Manager is the single riskiest role: 44 of 102 managers (43%) are Due for Retrenchment and a further 22 Due for Promotion — 65% of the role is flagged.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74520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2075688"/>
            <a:ext cx="402336" cy="402336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12" name="Text 10"/>
          <p:cNvSpPr/>
          <p:nvPr/>
        </p:nvSpPr>
        <p:spPr>
          <a:xfrm>
            <a:off x="6419088" y="2075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95160" y="20574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ratings skew heavily low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2624328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84.63% of employees carry a Low rating vs. just 15.37% High — a workforce-wide pattern that points to a rating-scale or calibration issue, not a handful of isolated cases.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59352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4160520"/>
            <a:ext cx="402336" cy="402336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41422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and flight risk move together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28.3% of staff (416) regularly work overtime. In the underlying attrition dataset, OverTime = Yes employees leave at 31.0% vs. 10.3% for those who don't — and overtime is one of the four flags inside FlightRiskScore.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959352"/>
            <a:ext cx="54406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F0DC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19088" y="4160520"/>
            <a:ext cx="402336" cy="402336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22" name="Text 20"/>
          <p:cNvSpPr/>
          <p:nvPr/>
        </p:nvSpPr>
        <p:spPr>
          <a:xfrm>
            <a:off x="6419088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414223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3A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 distance is not the constraint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92240" y="470916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3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63.95% of employees (940 of 1,470) live Very Close to the office, so proximity is unlikely to explain the promotion / retrenchment split — the model should weight role, tenure and rating more heavily than location.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Power BI Project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E16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8909A">
              <a:alpha val="22000"/>
            </a:srgbClr>
          </a:solidFill>
          <a:ln w="12700">
            <a:solidFill>
              <a:srgbClr val="E890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8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Employee Rows to a Trusted Action List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E7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engineered columns — from AnnualIncome to FlightRiskTier — turned a flat 1,478-row export into a model that can bucket, score and rank every employee. Verified Excel measures and Power BI DAX measures then made every KPI, chart and named-employee table consistent across all three dashboard pages.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90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68496"/>
            <a:ext cx="146304" cy="146304"/>
          </a:xfrm>
          <a:prstGeom prst="ellipse">
            <a:avLst/>
          </a:prstGeom>
          <a:solidFill>
            <a:srgbClr val="E890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858768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 Manager role first — highest combined promotion + retrenchment rate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443984"/>
            <a:ext cx="146304" cy="146304"/>
          </a:xfrm>
          <a:prstGeom prst="ellipse">
            <a:avLst/>
          </a:prstGeom>
          <a:solidFill>
            <a:srgbClr val="E890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33425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rating scale — an 85/15 low/high split is unlikely to be purely performance-driven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919472"/>
            <a:ext cx="146304" cy="146304"/>
          </a:xfrm>
          <a:prstGeom prst="ellipse">
            <a:avLst/>
          </a:prstGeom>
          <a:solidFill>
            <a:srgbClr val="E890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809744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FlightRiskTier with the Action page before finalizing retrenchment decisions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394960"/>
            <a:ext cx="146304" cy="146304"/>
          </a:xfrm>
          <a:prstGeom prst="ellipse">
            <a:avLst/>
          </a:prstGeom>
          <a:solidFill>
            <a:srgbClr val="E890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28523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Summary-sheet refresh so attrition KPIs update the moment Data is refreshed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12480" y="1005840"/>
            <a:ext cx="3337560" cy="4754880"/>
          </a:xfrm>
          <a:prstGeom prst="roundRect">
            <a:avLst>
              <a:gd name="adj" fmla="val 2740"/>
            </a:avLst>
          </a:prstGeom>
          <a:solidFill>
            <a:srgbClr val="8B2635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0" y="1234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0" y="1737360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5E1620"/>
          </a:solidFill>
          <a:ln/>
        </p:spPr>
      </p:sp>
      <p:sp>
        <p:nvSpPr>
          <p:cNvPr id="18" name="Text 16"/>
          <p:cNvSpPr/>
          <p:nvPr/>
        </p:nvSpPr>
        <p:spPr>
          <a:xfrm>
            <a:off x="882396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1,478-row source workbook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0" y="2395728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5E1620"/>
          </a:solidFill>
          <a:ln/>
        </p:spPr>
      </p:sp>
      <p:sp>
        <p:nvSpPr>
          <p:cNvPr id="20" name="Text 18"/>
          <p:cNvSpPr/>
          <p:nvPr/>
        </p:nvSpPr>
        <p:spPr>
          <a:xfrm>
            <a:off x="8823960" y="239572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verified calculated columns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0" y="3054096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5E1620"/>
          </a:solidFill>
          <a:ln/>
        </p:spPr>
      </p:sp>
      <p:sp>
        <p:nvSpPr>
          <p:cNvPr id="22" name="Text 20"/>
          <p:cNvSpPr/>
          <p:nvPr/>
        </p:nvSpPr>
        <p:spPr>
          <a:xfrm>
            <a:off x="8823960" y="305409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Summary-sheet KPI formulas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0" y="3712464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5E1620"/>
          </a:solidFill>
          <a:ln/>
        </p:spPr>
      </p:sp>
      <p:sp>
        <p:nvSpPr>
          <p:cNvPr id="24" name="Text 22"/>
          <p:cNvSpPr/>
          <p:nvPr/>
        </p:nvSpPr>
        <p:spPr>
          <a:xfrm>
            <a:off x="8823960" y="371246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interactive .pbix dashboard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86800" y="4370832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5E1620"/>
          </a:solidFill>
          <a:ln/>
        </p:spPr>
      </p:sp>
      <p:sp>
        <p:nvSpPr>
          <p:cNvPr id="26" name="Text 24"/>
          <p:cNvSpPr/>
          <p:nvPr/>
        </p:nvSpPr>
        <p:spPr>
          <a:xfrm>
            <a:off x="8823960" y="437083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charts, cards &amp; tables specified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86800" y="5029200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5E1620"/>
          </a:solidFill>
          <a:ln/>
        </p:spPr>
      </p:sp>
      <p:sp>
        <p:nvSpPr>
          <p:cNvPr id="28" name="Text 26"/>
          <p:cNvSpPr/>
          <p:nvPr/>
        </p:nvSpPr>
        <p:spPr>
          <a:xfrm>
            <a:off x="8823960" y="5029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screenshot pages ready to fill 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7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Power BI Project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16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90B8AB-D3CD-CEC7-BF7A-045A10F83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357035CB-0A82-4EDF-55DF-FC38B5E582E3}"/>
              </a:ext>
            </a:extLst>
          </p:cNvPr>
          <p:cNvSpPr/>
          <p:nvPr/>
        </p:nvSpPr>
        <p:spPr>
          <a:xfrm>
            <a:off x="3627900" y="2634956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43076B93-E41E-1EBA-B4F3-0FA7FFF24A5F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7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Dashboard  |  Power BI Project</a:t>
            </a:r>
            <a:endParaRPr lang="en-US" sz="10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5AC56CFD-ED3F-E616-65C4-F9A5D0486EC1}"/>
              </a:ext>
            </a:extLst>
          </p:cNvPr>
          <p:cNvSpPr/>
          <p:nvPr/>
        </p:nvSpPr>
        <p:spPr>
          <a:xfrm>
            <a:off x="11285110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7C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11858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2004</Words>
  <Application>Microsoft Office PowerPoint</Application>
  <PresentationFormat>Widescreen</PresentationFormat>
  <Paragraphs>337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Sudeepth Sasikumar</cp:lastModifiedBy>
  <cp:revision>1</cp:revision>
  <dcterms:created xsi:type="dcterms:W3CDTF">2026-09-26T17:32:54Z</dcterms:created>
  <dcterms:modified xsi:type="dcterms:W3CDTF">2026-10-06T09:39:09Z</dcterms:modified>
</cp:coreProperties>
</file>